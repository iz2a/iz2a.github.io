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3" r:id="rId1"/>
    <p:sldMasterId id="2147483739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10EA2B-82E3-EF8E-090A-488AB1DE2E56}" v="6" dt="2025-05-05T09:12:24.620"/>
    <p1510:client id="{A5CD71E0-98DE-EA00-3C2B-658DE1BDEE4C}" v="4" dt="2025-05-05T18:18:46.2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326BF7-5BC5-46C6-A422-BD4485F4AE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B07BC66-2C31-48F4-8DD2-4412E9BC4FB3}">
      <dgm:prSet/>
      <dgm:spPr/>
      <dgm:t>
        <a:bodyPr/>
        <a:lstStyle/>
        <a:p>
          <a:r>
            <a:rPr lang="en-US" b="1" i="0"/>
            <a:t>Limitations</a:t>
          </a:r>
          <a:endParaRPr lang="en-US"/>
        </a:p>
      </dgm:t>
    </dgm:pt>
    <dgm:pt modelId="{AC63BDF1-9B0F-406E-A1B9-D729123A5E58}" type="parTrans" cxnId="{1CE8115D-9BCD-4194-9E7A-51F36EAB2C20}">
      <dgm:prSet/>
      <dgm:spPr/>
      <dgm:t>
        <a:bodyPr/>
        <a:lstStyle/>
        <a:p>
          <a:endParaRPr lang="en-US"/>
        </a:p>
      </dgm:t>
    </dgm:pt>
    <dgm:pt modelId="{9273FA92-3DAC-41DD-98B5-FE0A73F68426}" type="sibTrans" cxnId="{1CE8115D-9BCD-4194-9E7A-51F36EAB2C20}">
      <dgm:prSet/>
      <dgm:spPr/>
      <dgm:t>
        <a:bodyPr/>
        <a:lstStyle/>
        <a:p>
          <a:endParaRPr lang="en-US"/>
        </a:p>
      </dgm:t>
    </dgm:pt>
    <dgm:pt modelId="{5069D6C4-E5D6-4BA0-80C9-0DBDA2F4A092}">
      <dgm:prSet/>
      <dgm:spPr/>
      <dgm:t>
        <a:bodyPr/>
        <a:lstStyle/>
        <a:p>
          <a:r>
            <a:rPr lang="en-US" b="0" i="0"/>
            <a:t>Significant implementation complexity requiring expertise</a:t>
          </a:r>
          <a:endParaRPr lang="en-US"/>
        </a:p>
      </dgm:t>
    </dgm:pt>
    <dgm:pt modelId="{21BA4B98-3F09-4877-959C-1B010C78E38C}" type="parTrans" cxnId="{2E83DB0E-4D6F-44CA-9BA5-EB011BF48CB5}">
      <dgm:prSet/>
      <dgm:spPr/>
      <dgm:t>
        <a:bodyPr/>
        <a:lstStyle/>
        <a:p>
          <a:endParaRPr lang="en-US"/>
        </a:p>
      </dgm:t>
    </dgm:pt>
    <dgm:pt modelId="{AD6E53CE-78A6-47C2-A404-6675D3B61A33}" type="sibTrans" cxnId="{2E83DB0E-4D6F-44CA-9BA5-EB011BF48CB5}">
      <dgm:prSet/>
      <dgm:spPr/>
      <dgm:t>
        <a:bodyPr/>
        <a:lstStyle/>
        <a:p>
          <a:endParaRPr lang="en-US"/>
        </a:p>
      </dgm:t>
    </dgm:pt>
    <dgm:pt modelId="{F7EFA470-6353-44AE-A20A-3A2B8447E13F}">
      <dgm:prSet/>
      <dgm:spPr/>
      <dgm:t>
        <a:bodyPr/>
        <a:lstStyle/>
        <a:p>
          <a:r>
            <a:rPr lang="en-US" b="0" i="0"/>
            <a:t>Challenges in retrofitting legacy systems</a:t>
          </a:r>
          <a:endParaRPr lang="en-US"/>
        </a:p>
      </dgm:t>
    </dgm:pt>
    <dgm:pt modelId="{4AABC7E9-7B78-4627-8BF1-A75435563D27}" type="parTrans" cxnId="{3BB11845-EF94-4543-BBC0-1ADD49BEA163}">
      <dgm:prSet/>
      <dgm:spPr/>
      <dgm:t>
        <a:bodyPr/>
        <a:lstStyle/>
        <a:p>
          <a:endParaRPr lang="en-US"/>
        </a:p>
      </dgm:t>
    </dgm:pt>
    <dgm:pt modelId="{9262DA8A-12A1-40DD-99D9-C383A2A069BF}" type="sibTrans" cxnId="{3BB11845-EF94-4543-BBC0-1ADD49BEA163}">
      <dgm:prSet/>
      <dgm:spPr/>
      <dgm:t>
        <a:bodyPr/>
        <a:lstStyle/>
        <a:p>
          <a:endParaRPr lang="en-US"/>
        </a:p>
      </dgm:t>
    </dgm:pt>
    <dgm:pt modelId="{BA0C8210-B3C5-4D40-899C-885B8B6C0D5E}">
      <dgm:prSet/>
      <dgm:spPr/>
      <dgm:t>
        <a:bodyPr/>
        <a:lstStyle/>
        <a:p>
          <a:r>
            <a:rPr lang="en-US" b="0" i="0"/>
            <a:t>Security context determination logic as potential vulnerability</a:t>
          </a:r>
          <a:endParaRPr lang="en-US"/>
        </a:p>
      </dgm:t>
    </dgm:pt>
    <dgm:pt modelId="{8681A08B-141C-441B-B9FF-9050E12BC27C}" type="parTrans" cxnId="{A5C80970-EA69-4168-9018-E5E526D5CBE1}">
      <dgm:prSet/>
      <dgm:spPr/>
      <dgm:t>
        <a:bodyPr/>
        <a:lstStyle/>
        <a:p>
          <a:endParaRPr lang="en-US"/>
        </a:p>
      </dgm:t>
    </dgm:pt>
    <dgm:pt modelId="{CFC0E520-E1D1-4BE0-A721-E1BD3FC88196}" type="sibTrans" cxnId="{A5C80970-EA69-4168-9018-E5E526D5CBE1}">
      <dgm:prSet/>
      <dgm:spPr/>
      <dgm:t>
        <a:bodyPr/>
        <a:lstStyle/>
        <a:p>
          <a:endParaRPr lang="en-US"/>
        </a:p>
      </dgm:t>
    </dgm:pt>
    <dgm:pt modelId="{0937C5B1-7475-44E4-811E-D034706DBA71}">
      <dgm:prSet/>
      <dgm:spPr/>
      <dgm:t>
        <a:bodyPr/>
        <a:lstStyle/>
        <a:p>
          <a:r>
            <a:rPr lang="en-US" b="0" i="0"/>
            <a:t>Higher resource requirements in constrained environments</a:t>
          </a:r>
          <a:endParaRPr lang="en-US"/>
        </a:p>
      </dgm:t>
    </dgm:pt>
    <dgm:pt modelId="{AAFACAF6-E238-4CC2-871F-7449D9CA37CD}" type="parTrans" cxnId="{08C0C2A8-427E-4FE4-AE24-0F930605A97D}">
      <dgm:prSet/>
      <dgm:spPr/>
      <dgm:t>
        <a:bodyPr/>
        <a:lstStyle/>
        <a:p>
          <a:endParaRPr lang="en-US"/>
        </a:p>
      </dgm:t>
    </dgm:pt>
    <dgm:pt modelId="{CE6DF67F-5FA6-428F-A21C-FB23EF281256}" type="sibTrans" cxnId="{08C0C2A8-427E-4FE4-AE24-0F930605A97D}">
      <dgm:prSet/>
      <dgm:spPr/>
      <dgm:t>
        <a:bodyPr/>
        <a:lstStyle/>
        <a:p>
          <a:endParaRPr lang="en-US"/>
        </a:p>
      </dgm:t>
    </dgm:pt>
    <dgm:pt modelId="{8B72CEB1-AB0C-4EBD-8CCF-61258361122F}">
      <dgm:prSet/>
      <dgm:spPr/>
      <dgm:t>
        <a:bodyPr/>
        <a:lstStyle/>
        <a:p>
          <a:r>
            <a:rPr lang="en-US" b="0" i="0"/>
            <a:t>Developer learning curve for modal logic concepts</a:t>
          </a:r>
          <a:endParaRPr lang="en-US"/>
        </a:p>
      </dgm:t>
    </dgm:pt>
    <dgm:pt modelId="{EC445C89-61BE-4002-A1CF-15CDBCFE2529}" type="parTrans" cxnId="{B74F9586-FC94-43B4-9C6A-CD78C9B7FFFC}">
      <dgm:prSet/>
      <dgm:spPr/>
      <dgm:t>
        <a:bodyPr/>
        <a:lstStyle/>
        <a:p>
          <a:endParaRPr lang="en-US"/>
        </a:p>
      </dgm:t>
    </dgm:pt>
    <dgm:pt modelId="{F956223D-4D04-4B1F-8B85-05FDDC4085B5}" type="sibTrans" cxnId="{B74F9586-FC94-43B4-9C6A-CD78C9B7FFFC}">
      <dgm:prSet/>
      <dgm:spPr/>
      <dgm:t>
        <a:bodyPr/>
        <a:lstStyle/>
        <a:p>
          <a:endParaRPr lang="en-US"/>
        </a:p>
      </dgm:t>
    </dgm:pt>
    <dgm:pt modelId="{AFF7B9A2-95F5-4416-BA0F-1D6CE58CB7CE}" type="pres">
      <dgm:prSet presAssocID="{EF326BF7-5BC5-46C6-A422-BD4485F4AE6B}" presName="linear" presStyleCnt="0">
        <dgm:presLayoutVars>
          <dgm:animLvl val="lvl"/>
          <dgm:resizeHandles val="exact"/>
        </dgm:presLayoutVars>
      </dgm:prSet>
      <dgm:spPr/>
    </dgm:pt>
    <dgm:pt modelId="{064E3C57-FC9F-4D44-89C1-1EDE2A666343}" type="pres">
      <dgm:prSet presAssocID="{3B07BC66-2C31-48F4-8DD2-4412E9BC4FB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F522302-9D10-421E-B29D-46DB2EE67202}" type="pres">
      <dgm:prSet presAssocID="{9273FA92-3DAC-41DD-98B5-FE0A73F68426}" presName="spacer" presStyleCnt="0"/>
      <dgm:spPr/>
    </dgm:pt>
    <dgm:pt modelId="{C72D44A8-170C-44F1-B660-75B9229B16EE}" type="pres">
      <dgm:prSet presAssocID="{5069D6C4-E5D6-4BA0-80C9-0DBDA2F4A09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77B73B1-328C-4B94-80EC-7891878BAE4B}" type="pres">
      <dgm:prSet presAssocID="{AD6E53CE-78A6-47C2-A404-6675D3B61A33}" presName="spacer" presStyleCnt="0"/>
      <dgm:spPr/>
    </dgm:pt>
    <dgm:pt modelId="{D507543D-070E-4899-94FC-26E383B5B722}" type="pres">
      <dgm:prSet presAssocID="{F7EFA470-6353-44AE-A20A-3A2B8447E13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CF10F44-25D1-4681-B468-E1C858A542A9}" type="pres">
      <dgm:prSet presAssocID="{9262DA8A-12A1-40DD-99D9-C383A2A069BF}" presName="spacer" presStyleCnt="0"/>
      <dgm:spPr/>
    </dgm:pt>
    <dgm:pt modelId="{978FF274-CBB9-4265-8AF1-9730FE2BF09E}" type="pres">
      <dgm:prSet presAssocID="{BA0C8210-B3C5-4D40-899C-885B8B6C0D5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812F7A0-E434-4742-8113-C5867280F1EF}" type="pres">
      <dgm:prSet presAssocID="{CFC0E520-E1D1-4BE0-A721-E1BD3FC88196}" presName="spacer" presStyleCnt="0"/>
      <dgm:spPr/>
    </dgm:pt>
    <dgm:pt modelId="{75829755-A697-4480-A388-449A5C4921D5}" type="pres">
      <dgm:prSet presAssocID="{0937C5B1-7475-44E4-811E-D034706DBA7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CE9FDE1-DD42-4BAF-903B-CD303C704FF1}" type="pres">
      <dgm:prSet presAssocID="{CE6DF67F-5FA6-428F-A21C-FB23EF281256}" presName="spacer" presStyleCnt="0"/>
      <dgm:spPr/>
    </dgm:pt>
    <dgm:pt modelId="{A80DC2C6-1817-4C55-9150-F5B54B35AE74}" type="pres">
      <dgm:prSet presAssocID="{8B72CEB1-AB0C-4EBD-8CCF-61258361122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E83DB0E-4D6F-44CA-9BA5-EB011BF48CB5}" srcId="{EF326BF7-5BC5-46C6-A422-BD4485F4AE6B}" destId="{5069D6C4-E5D6-4BA0-80C9-0DBDA2F4A092}" srcOrd="1" destOrd="0" parTransId="{21BA4B98-3F09-4877-959C-1B010C78E38C}" sibTransId="{AD6E53CE-78A6-47C2-A404-6675D3B61A33}"/>
    <dgm:cxn modelId="{F74A8710-921D-46CA-9632-4E9D8722F32D}" type="presOf" srcId="{EF326BF7-5BC5-46C6-A422-BD4485F4AE6B}" destId="{AFF7B9A2-95F5-4416-BA0F-1D6CE58CB7CE}" srcOrd="0" destOrd="0" presId="urn:microsoft.com/office/officeart/2005/8/layout/vList2"/>
    <dgm:cxn modelId="{E66AB810-C5DA-4F90-8EA8-4BDC3DDFC895}" type="presOf" srcId="{8B72CEB1-AB0C-4EBD-8CCF-61258361122F}" destId="{A80DC2C6-1817-4C55-9150-F5B54B35AE74}" srcOrd="0" destOrd="0" presId="urn:microsoft.com/office/officeart/2005/8/layout/vList2"/>
    <dgm:cxn modelId="{71E9C030-B495-4FF1-A289-652069BE6733}" type="presOf" srcId="{F7EFA470-6353-44AE-A20A-3A2B8447E13F}" destId="{D507543D-070E-4899-94FC-26E383B5B722}" srcOrd="0" destOrd="0" presId="urn:microsoft.com/office/officeart/2005/8/layout/vList2"/>
    <dgm:cxn modelId="{1CE8115D-9BCD-4194-9E7A-51F36EAB2C20}" srcId="{EF326BF7-5BC5-46C6-A422-BD4485F4AE6B}" destId="{3B07BC66-2C31-48F4-8DD2-4412E9BC4FB3}" srcOrd="0" destOrd="0" parTransId="{AC63BDF1-9B0F-406E-A1B9-D729123A5E58}" sibTransId="{9273FA92-3DAC-41DD-98B5-FE0A73F68426}"/>
    <dgm:cxn modelId="{3BB11845-EF94-4543-BBC0-1ADD49BEA163}" srcId="{EF326BF7-5BC5-46C6-A422-BD4485F4AE6B}" destId="{F7EFA470-6353-44AE-A20A-3A2B8447E13F}" srcOrd="2" destOrd="0" parTransId="{4AABC7E9-7B78-4627-8BF1-A75435563D27}" sibTransId="{9262DA8A-12A1-40DD-99D9-C383A2A069BF}"/>
    <dgm:cxn modelId="{A5C80970-EA69-4168-9018-E5E526D5CBE1}" srcId="{EF326BF7-5BC5-46C6-A422-BD4485F4AE6B}" destId="{BA0C8210-B3C5-4D40-899C-885B8B6C0D5E}" srcOrd="3" destOrd="0" parTransId="{8681A08B-141C-441B-B9FF-9050E12BC27C}" sibTransId="{CFC0E520-E1D1-4BE0-A721-E1BD3FC88196}"/>
    <dgm:cxn modelId="{1608BD78-AD9A-449B-B822-1817702DB414}" type="presOf" srcId="{5069D6C4-E5D6-4BA0-80C9-0DBDA2F4A092}" destId="{C72D44A8-170C-44F1-B660-75B9229B16EE}" srcOrd="0" destOrd="0" presId="urn:microsoft.com/office/officeart/2005/8/layout/vList2"/>
    <dgm:cxn modelId="{827CCB84-C6F9-4577-A444-5230BA070092}" type="presOf" srcId="{3B07BC66-2C31-48F4-8DD2-4412E9BC4FB3}" destId="{064E3C57-FC9F-4D44-89C1-1EDE2A666343}" srcOrd="0" destOrd="0" presId="urn:microsoft.com/office/officeart/2005/8/layout/vList2"/>
    <dgm:cxn modelId="{B74F9586-FC94-43B4-9C6A-CD78C9B7FFFC}" srcId="{EF326BF7-5BC5-46C6-A422-BD4485F4AE6B}" destId="{8B72CEB1-AB0C-4EBD-8CCF-61258361122F}" srcOrd="5" destOrd="0" parTransId="{EC445C89-61BE-4002-A1CF-15CDBCFE2529}" sibTransId="{F956223D-4D04-4B1F-8B85-05FDDC4085B5}"/>
    <dgm:cxn modelId="{08C0C2A8-427E-4FE4-AE24-0F930605A97D}" srcId="{EF326BF7-5BC5-46C6-A422-BD4485F4AE6B}" destId="{0937C5B1-7475-44E4-811E-D034706DBA71}" srcOrd="4" destOrd="0" parTransId="{AAFACAF6-E238-4CC2-871F-7449D9CA37CD}" sibTransId="{CE6DF67F-5FA6-428F-A21C-FB23EF281256}"/>
    <dgm:cxn modelId="{4E4118D8-9FB2-401F-A5C3-70353CD995EC}" type="presOf" srcId="{BA0C8210-B3C5-4D40-899C-885B8B6C0D5E}" destId="{978FF274-CBB9-4265-8AF1-9730FE2BF09E}" srcOrd="0" destOrd="0" presId="urn:microsoft.com/office/officeart/2005/8/layout/vList2"/>
    <dgm:cxn modelId="{9451C4F9-52F2-4362-B0A7-39547E05FEE4}" type="presOf" srcId="{0937C5B1-7475-44E4-811E-D034706DBA71}" destId="{75829755-A697-4480-A388-449A5C4921D5}" srcOrd="0" destOrd="0" presId="urn:microsoft.com/office/officeart/2005/8/layout/vList2"/>
    <dgm:cxn modelId="{E9494ACA-93FD-4D34-9CA6-2838FEEB6E8D}" type="presParOf" srcId="{AFF7B9A2-95F5-4416-BA0F-1D6CE58CB7CE}" destId="{064E3C57-FC9F-4D44-89C1-1EDE2A666343}" srcOrd="0" destOrd="0" presId="urn:microsoft.com/office/officeart/2005/8/layout/vList2"/>
    <dgm:cxn modelId="{38CF946C-C44A-405C-9356-86CD184FCC6D}" type="presParOf" srcId="{AFF7B9A2-95F5-4416-BA0F-1D6CE58CB7CE}" destId="{FF522302-9D10-421E-B29D-46DB2EE67202}" srcOrd="1" destOrd="0" presId="urn:microsoft.com/office/officeart/2005/8/layout/vList2"/>
    <dgm:cxn modelId="{3FE1C5E9-67B5-4A3D-BF98-312286727514}" type="presParOf" srcId="{AFF7B9A2-95F5-4416-BA0F-1D6CE58CB7CE}" destId="{C72D44A8-170C-44F1-B660-75B9229B16EE}" srcOrd="2" destOrd="0" presId="urn:microsoft.com/office/officeart/2005/8/layout/vList2"/>
    <dgm:cxn modelId="{F4479F26-78CC-45AE-A843-05BCC559540A}" type="presParOf" srcId="{AFF7B9A2-95F5-4416-BA0F-1D6CE58CB7CE}" destId="{177B73B1-328C-4B94-80EC-7891878BAE4B}" srcOrd="3" destOrd="0" presId="urn:microsoft.com/office/officeart/2005/8/layout/vList2"/>
    <dgm:cxn modelId="{84E46B7A-9026-436C-AE89-CDB64D101499}" type="presParOf" srcId="{AFF7B9A2-95F5-4416-BA0F-1D6CE58CB7CE}" destId="{D507543D-070E-4899-94FC-26E383B5B722}" srcOrd="4" destOrd="0" presId="urn:microsoft.com/office/officeart/2005/8/layout/vList2"/>
    <dgm:cxn modelId="{8D4A97C4-BB60-4D6C-A66A-CD48C916F16B}" type="presParOf" srcId="{AFF7B9A2-95F5-4416-BA0F-1D6CE58CB7CE}" destId="{7CF10F44-25D1-4681-B468-E1C858A542A9}" srcOrd="5" destOrd="0" presId="urn:microsoft.com/office/officeart/2005/8/layout/vList2"/>
    <dgm:cxn modelId="{B6E2BBA3-8925-4326-9E6E-E3A25FA336C2}" type="presParOf" srcId="{AFF7B9A2-95F5-4416-BA0F-1D6CE58CB7CE}" destId="{978FF274-CBB9-4265-8AF1-9730FE2BF09E}" srcOrd="6" destOrd="0" presId="urn:microsoft.com/office/officeart/2005/8/layout/vList2"/>
    <dgm:cxn modelId="{5E5E4E44-743B-4C5B-8877-25BE7938BAF5}" type="presParOf" srcId="{AFF7B9A2-95F5-4416-BA0F-1D6CE58CB7CE}" destId="{A812F7A0-E434-4742-8113-C5867280F1EF}" srcOrd="7" destOrd="0" presId="urn:microsoft.com/office/officeart/2005/8/layout/vList2"/>
    <dgm:cxn modelId="{88EA8820-DB42-453B-A175-C7F8AB2021CC}" type="presParOf" srcId="{AFF7B9A2-95F5-4416-BA0F-1D6CE58CB7CE}" destId="{75829755-A697-4480-A388-449A5C4921D5}" srcOrd="8" destOrd="0" presId="urn:microsoft.com/office/officeart/2005/8/layout/vList2"/>
    <dgm:cxn modelId="{08AF585B-2253-46D6-AAE1-C755C41B002A}" type="presParOf" srcId="{AFF7B9A2-95F5-4416-BA0F-1D6CE58CB7CE}" destId="{9CE9FDE1-DD42-4BAF-903B-CD303C704FF1}" srcOrd="9" destOrd="0" presId="urn:microsoft.com/office/officeart/2005/8/layout/vList2"/>
    <dgm:cxn modelId="{077B69CA-326E-4625-8964-9947D7816F02}" type="presParOf" srcId="{AFF7B9A2-95F5-4416-BA0F-1D6CE58CB7CE}" destId="{A80DC2C6-1817-4C55-9150-F5B54B35AE7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4E3C57-FC9F-4D44-89C1-1EDE2A666343}">
      <dsp:nvSpPr>
        <dsp:cNvPr id="0" name=""/>
        <dsp:cNvSpPr/>
      </dsp:nvSpPr>
      <dsp:spPr>
        <a:xfrm>
          <a:off x="0" y="55022"/>
          <a:ext cx="4931220" cy="5456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Limitations</a:t>
          </a:r>
          <a:endParaRPr lang="en-US" sz="1400" kern="1200"/>
        </a:p>
      </dsp:txBody>
      <dsp:txXfrm>
        <a:off x="26637" y="81659"/>
        <a:ext cx="4877946" cy="492384"/>
      </dsp:txXfrm>
    </dsp:sp>
    <dsp:sp modelId="{C72D44A8-170C-44F1-B660-75B9229B16EE}">
      <dsp:nvSpPr>
        <dsp:cNvPr id="0" name=""/>
        <dsp:cNvSpPr/>
      </dsp:nvSpPr>
      <dsp:spPr>
        <a:xfrm>
          <a:off x="0" y="641000"/>
          <a:ext cx="4931220" cy="5456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Significant implementation complexity requiring expertise</a:t>
          </a:r>
          <a:endParaRPr lang="en-US" sz="1400" kern="1200"/>
        </a:p>
      </dsp:txBody>
      <dsp:txXfrm>
        <a:off x="26637" y="667637"/>
        <a:ext cx="4877946" cy="492384"/>
      </dsp:txXfrm>
    </dsp:sp>
    <dsp:sp modelId="{D507543D-070E-4899-94FC-26E383B5B722}">
      <dsp:nvSpPr>
        <dsp:cNvPr id="0" name=""/>
        <dsp:cNvSpPr/>
      </dsp:nvSpPr>
      <dsp:spPr>
        <a:xfrm>
          <a:off x="0" y="1226979"/>
          <a:ext cx="4931220" cy="5456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Challenges in retrofitting legacy systems</a:t>
          </a:r>
          <a:endParaRPr lang="en-US" sz="1400" kern="1200"/>
        </a:p>
      </dsp:txBody>
      <dsp:txXfrm>
        <a:off x="26637" y="1253616"/>
        <a:ext cx="4877946" cy="492384"/>
      </dsp:txXfrm>
    </dsp:sp>
    <dsp:sp modelId="{978FF274-CBB9-4265-8AF1-9730FE2BF09E}">
      <dsp:nvSpPr>
        <dsp:cNvPr id="0" name=""/>
        <dsp:cNvSpPr/>
      </dsp:nvSpPr>
      <dsp:spPr>
        <a:xfrm>
          <a:off x="0" y="1812958"/>
          <a:ext cx="4931220" cy="5456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Security context determination logic as potential vulnerability</a:t>
          </a:r>
          <a:endParaRPr lang="en-US" sz="1400" kern="1200"/>
        </a:p>
      </dsp:txBody>
      <dsp:txXfrm>
        <a:off x="26637" y="1839595"/>
        <a:ext cx="4877946" cy="492384"/>
      </dsp:txXfrm>
    </dsp:sp>
    <dsp:sp modelId="{75829755-A697-4480-A388-449A5C4921D5}">
      <dsp:nvSpPr>
        <dsp:cNvPr id="0" name=""/>
        <dsp:cNvSpPr/>
      </dsp:nvSpPr>
      <dsp:spPr>
        <a:xfrm>
          <a:off x="0" y="2398937"/>
          <a:ext cx="4931220" cy="5456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Higher resource requirements in constrained environments</a:t>
          </a:r>
          <a:endParaRPr lang="en-US" sz="1400" kern="1200"/>
        </a:p>
      </dsp:txBody>
      <dsp:txXfrm>
        <a:off x="26637" y="2425574"/>
        <a:ext cx="4877946" cy="492384"/>
      </dsp:txXfrm>
    </dsp:sp>
    <dsp:sp modelId="{A80DC2C6-1817-4C55-9150-F5B54B35AE74}">
      <dsp:nvSpPr>
        <dsp:cNvPr id="0" name=""/>
        <dsp:cNvSpPr/>
      </dsp:nvSpPr>
      <dsp:spPr>
        <a:xfrm>
          <a:off x="0" y="2984916"/>
          <a:ext cx="4931220" cy="5456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Developer learning curve for modal logic concepts</a:t>
          </a:r>
          <a:endParaRPr lang="en-US" sz="1400" kern="1200"/>
        </a:p>
      </dsp:txBody>
      <dsp:txXfrm>
        <a:off x="26637" y="3011553"/>
        <a:ext cx="4877946" cy="492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D7540-1576-CC4C-9B9E-1F9FECAA21A7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5329C9-7706-3340-A2ED-A12C9C665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66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329C9-7706-3340-A2ED-A12C9C665A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95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20104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4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14496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09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481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6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9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35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6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1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24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941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364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508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18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40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028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9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545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629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200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645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02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06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6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27" r:id="rId5"/>
    <p:sldLayoutId id="2147483728" r:id="rId6"/>
    <p:sldLayoutId id="2147483734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2155-3E83-98EA-DE7C-A2251629F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1413" y="609600"/>
            <a:ext cx="9905998" cy="1905000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200" i="1">
                <a:solidFill>
                  <a:schemeClr val="bg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Curbing the Vulnerable Parser:</a:t>
            </a:r>
            <a:br>
              <a:rPr lang="en-US" sz="3200" i="1">
                <a:solidFill>
                  <a:schemeClr val="bg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</a:br>
            <a:r>
              <a:rPr lang="en-US" sz="3200" i="1">
                <a:solidFill>
                  <a:schemeClr val="bg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Graded Modal Guardrails for Secure Input Handling</a:t>
            </a:r>
            <a:endParaRPr lang="en-US" sz="3200" i="1">
              <a:solidFill>
                <a:schemeClr val="bg1"/>
              </a:solidFill>
              <a:effectLst>
                <a:glow rad="38100">
                  <a:srgbClr val="000000">
                    <a:lumMod val="65000"/>
                    <a:lumOff val="35000"/>
                    <a:alpha val="40000"/>
                  </a:srgb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E8A6F-4990-9D58-F4E5-A55E40BB7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1413" y="2135909"/>
            <a:ext cx="9905998" cy="45327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/>
              <a:buChar char="•"/>
            </a:pPr>
            <a:r>
              <a:rPr lang="en-US" b="0" i="0">
                <a:solidFill>
                  <a:schemeClr val="bg1"/>
                </a:solidFill>
              </a:rPr>
              <a:t>Eric Bond &amp; Matthew Heimerdinger</a:t>
            </a:r>
            <a:br>
              <a:rPr lang="en-US" b="0" i="0">
                <a:solidFill>
                  <a:schemeClr val="bg1"/>
                </a:solidFill>
              </a:rPr>
            </a:br>
            <a:r>
              <a:rPr lang="en-US" b="0" i="0">
                <a:solidFill>
                  <a:schemeClr val="bg1"/>
                </a:solidFill>
              </a:rPr>
              <a:t>Two Six Technologies</a:t>
            </a:r>
          </a:p>
          <a:p>
            <a:pPr indent="-228600" algn="l">
              <a:buFont typeface="Arial"/>
              <a:buChar char="•"/>
            </a:pPr>
            <a:r>
              <a:rPr lang="en-US" b="0" i="0">
                <a:solidFill>
                  <a:schemeClr val="bg1"/>
                </a:solidFill>
              </a:rPr>
              <a:t>IEEE </a:t>
            </a:r>
            <a:r>
              <a:rPr lang="en-US" b="0" i="0" err="1">
                <a:solidFill>
                  <a:schemeClr val="bg1"/>
                </a:solidFill>
              </a:rPr>
              <a:t>SecDev</a:t>
            </a:r>
            <a:r>
              <a:rPr lang="en-US" b="0" i="0">
                <a:solidFill>
                  <a:schemeClr val="bg1"/>
                </a:solidFill>
              </a:rPr>
              <a:t> 2023</a:t>
            </a:r>
          </a:p>
          <a:p>
            <a:pPr algn="l">
              <a:buFont typeface="Arial"/>
              <a:buChar char="•"/>
            </a:pPr>
            <a:r>
              <a:rPr lang="en-US" b="0" i="1">
                <a:solidFill>
                  <a:schemeClr val="bg1"/>
                </a:solidFill>
              </a:rPr>
              <a:t>Presented by </a:t>
            </a:r>
          </a:p>
          <a:p>
            <a:pPr algn="l">
              <a:buFont typeface="Arial"/>
              <a:buChar char="•"/>
            </a:pPr>
            <a:r>
              <a:rPr lang="en-US" b="0" i="1">
                <a:solidFill>
                  <a:schemeClr val="bg1"/>
                </a:solidFill>
              </a:rPr>
              <a:t>Aziz Alghamdi  </a:t>
            </a:r>
          </a:p>
          <a:p>
            <a:pPr algn="l">
              <a:buFont typeface="Arial"/>
              <a:buChar char="•"/>
            </a:pPr>
            <a:r>
              <a:rPr lang="en-US" b="0" i="1">
                <a:solidFill>
                  <a:schemeClr val="bg1"/>
                </a:solidFill>
              </a:rPr>
              <a:t>Dylan Trent</a:t>
            </a:r>
          </a:p>
          <a:p>
            <a:pPr indent="-228600" algn="l">
              <a:buFont typeface="Arial"/>
              <a:buChar char="•"/>
            </a:pPr>
            <a:endParaRPr lang="en-US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580000" scaled="0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257796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C758EC8D-68D1-4138-B719-BE00C78AD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0"/>
            <a:ext cx="122072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4579E4-5B5F-42C9-B08F-A904C81B1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811"/>
            <a:ext cx="2556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F01B4-4C19-21ED-AA2A-7DD9D6D9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2904" y="2514944"/>
            <a:ext cx="5054601" cy="1955108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4F97D-63A8-71A6-65DC-F570A3069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2654" y="965199"/>
            <a:ext cx="6670520" cy="5207002"/>
          </a:xfrm>
          <a:noFill/>
        </p:spPr>
        <p:txBody>
          <a:bodyPr anchor="t">
            <a:normAutofit/>
          </a:bodyPr>
          <a:lstStyle/>
          <a:p>
            <a:pPr>
              <a:spcAft>
                <a:spcPts val="1350"/>
              </a:spcAft>
              <a:buNone/>
            </a:pPr>
            <a:r>
              <a:rPr lang="en-US" sz="19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Parser Security Problem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handling vulnerabilities persist despite decades of research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Parsers form critical attack surface in software systems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approaches face fundamental dilemma:</a:t>
            </a:r>
          </a:p>
          <a:p>
            <a:pPr marL="742950" lvl="1" indent="-285750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 restrictive</a:t>
            </a:r>
            <a:r>
              <a:rPr lang="en-US" sz="19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Limits functionality and usability</a:t>
            </a:r>
          </a:p>
          <a:p>
            <a:pPr marL="742950" lvl="1" indent="-285750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 permissive</a:t>
            </a:r>
            <a:r>
              <a:rPr lang="en-US" sz="19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Creates security vulnerabilities</a:t>
            </a:r>
          </a:p>
          <a:p>
            <a:pPr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19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 Graded Modal Guardrails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security adaptation using formal methods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Flexible posture that adjusts based on execution context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Formal verification through modal logic</a:t>
            </a:r>
          </a:p>
          <a:p>
            <a:pPr marL="0" indent="0">
              <a:buNone/>
            </a:pPr>
            <a:endParaRPr lang="en-US" sz="19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1BF6CF-E1B8-4EE2-9AE1-86A58DAFD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93367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F9E14-2992-A8E3-2C72-91B172A73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3061" y="496933"/>
            <a:ext cx="3964008" cy="1800526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EFB1F-A953-40F5-34DB-605517C9F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848" y="384063"/>
            <a:ext cx="8167817" cy="4209906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90000"/>
              </a:lnSpc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80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Language-theoretic Security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Treats input validation as formal language recognition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Views insecurity as consequence of ad hoc input handling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Advocates precise, upfront input validation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Establishes that parsing should precede processing</a:t>
            </a:r>
          </a:p>
          <a:p>
            <a:pPr>
              <a:lnSpc>
                <a:spcPct val="90000"/>
              </a:lnSpc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80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Graded Modal Logic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Extension of modal logic with counting capabilities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quantification over degrees of necessity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formal foundation for security transitions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reasoning about security guarantees</a:t>
            </a:r>
          </a:p>
          <a:p>
            <a:pPr>
              <a:lnSpc>
                <a:spcPct val="90000"/>
              </a:lnSpc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80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Prior Parser Security Approaches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Parser combinators and formally verified parsers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Recognition-based approaches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Binary protocol vulnerability analysis</a:t>
            </a:r>
            <a:r>
              <a:rPr lang="en-US" sz="8000" b="0" i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[1, 3, 5]</a:t>
            </a:r>
            <a:endParaRPr lang="en-US" sz="8000" b="0" i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sz="500"/>
          </a:p>
        </p:txBody>
      </p:sp>
      <p:pic>
        <p:nvPicPr>
          <p:cNvPr id="23" name="Graphic 22" descr="User">
            <a:extLst>
              <a:ext uri="{FF2B5EF4-FFF2-40B4-BE49-F238E27FC236}">
                <a16:creationId xmlns:a16="http://schemas.microsoft.com/office/drawing/2014/main" id="{2102F0F4-7BE1-B203-1F72-A7AA7048F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3293" y="2816529"/>
            <a:ext cx="3848322" cy="384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69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6A28-AF87-6C8A-8587-46EC58B55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i="1"/>
              <a:t>Research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B680C1-A73B-EB10-5010-7307347C4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1872" y="1933575"/>
            <a:ext cx="4401509" cy="4246562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182880" fontAlgn="base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Graded Modal Guardrails Framework</a:t>
            </a:r>
          </a:p>
          <a:p>
            <a:pPr marR="0" lvl="0" indent="-182880" fontAlgn="base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tabLst/>
            </a:pPr>
            <a:endParaRPr kumimoji="0" lang="en-US" altLang="en-US" b="1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Security Transition Rules</a:t>
            </a:r>
            <a:endParaRPr lang="en-US" altLang="en-US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182880" fontAlgn="base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Monotonicity Rule: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 Security level can only increase without validation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182880" fontAlgn="base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Validation Gate Rule: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 Decreasing security requires explicit checks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182880" fontAlgn="base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Composition Rule: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 Combined operations inherit highest security level</a:t>
            </a:r>
            <a:endParaRPr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182880" fontAlgn="base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F3D047-96AF-9241-DA69-3DE0951ECF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23571"/>
              </p:ext>
            </p:extLst>
          </p:nvPr>
        </p:nvGraphicFramePr>
        <p:xfrm>
          <a:off x="6095999" y="2078259"/>
          <a:ext cx="4807288" cy="3350506"/>
        </p:xfrm>
        <a:graphic>
          <a:graphicData uri="http://schemas.openxmlformats.org/drawingml/2006/table">
            <a:tbl>
              <a:tblPr firstRow="1" bandRow="1">
                <a:solidFill>
                  <a:srgbClr val="F7F7F7"/>
                </a:solidFill>
              </a:tblPr>
              <a:tblGrid>
                <a:gridCol w="1064839">
                  <a:extLst>
                    <a:ext uri="{9D8B030D-6E8A-4147-A177-3AD203B41FA5}">
                      <a16:colId xmlns:a16="http://schemas.microsoft.com/office/drawing/2014/main" val="4151513229"/>
                    </a:ext>
                  </a:extLst>
                </a:gridCol>
                <a:gridCol w="1133344">
                  <a:extLst>
                    <a:ext uri="{9D8B030D-6E8A-4147-A177-3AD203B41FA5}">
                      <a16:colId xmlns:a16="http://schemas.microsoft.com/office/drawing/2014/main" val="1317923011"/>
                    </a:ext>
                  </a:extLst>
                </a:gridCol>
                <a:gridCol w="1365522">
                  <a:extLst>
                    <a:ext uri="{9D8B030D-6E8A-4147-A177-3AD203B41FA5}">
                      <a16:colId xmlns:a16="http://schemas.microsoft.com/office/drawing/2014/main" val="2730325122"/>
                    </a:ext>
                  </a:extLst>
                </a:gridCol>
                <a:gridCol w="1243583">
                  <a:extLst>
                    <a:ext uri="{9D8B030D-6E8A-4147-A177-3AD203B41FA5}">
                      <a16:colId xmlns:a16="http://schemas.microsoft.com/office/drawing/2014/main" val="3176631868"/>
                    </a:ext>
                  </a:extLst>
                </a:gridCol>
              </a:tblGrid>
              <a:tr h="583990">
                <a:tc>
                  <a:txBody>
                    <a:bodyPr/>
                    <a:lstStyle/>
                    <a:p>
                      <a:pPr algn="ctr"/>
                      <a:r>
                        <a:rPr lang="en-US" sz="1000" b="1" cap="all" spc="6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Level</a:t>
                      </a:r>
                    </a:p>
                  </a:txBody>
                  <a:tcPr marL="118376" marR="118376" marT="118376" marB="11837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cap="all" spc="6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Modal Operator</a:t>
                      </a:r>
                    </a:p>
                  </a:txBody>
                  <a:tcPr marL="118376" marR="118376" marT="118376" marB="11837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cap="all" spc="6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Guarantees</a:t>
                      </a:r>
                    </a:p>
                  </a:txBody>
                  <a:tcPr marL="118376" marR="118376" marT="118376" marB="11837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cap="all" spc="6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</a:t>
                      </a:r>
                    </a:p>
                  </a:txBody>
                  <a:tcPr marL="118376" marR="118376" marT="118376" marB="11837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7432"/>
                  </a:ext>
                </a:extLst>
              </a:tr>
              <a:tr h="992321">
                <a:tc>
                  <a:txBody>
                    <a:bodyPr/>
                    <a:lstStyle/>
                    <a:p>
                      <a:pPr algn="ctr"/>
                      <a:r>
                        <a:rPr lang="en-US" sz="1400" b="1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Strict</a:t>
                      </a:r>
                      <a:endParaRPr lang="en-US" sz="14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048" marR="40048" marT="40048" marB="789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□</a:t>
                      </a:r>
                      <a:r>
                        <a:rPr lang="en-US" sz="2400" cap="none" spc="0" baseline="-2500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s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40048" marR="40048" marT="40048" marB="789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validation, maximum constraints</a:t>
                      </a:r>
                    </a:p>
                  </a:txBody>
                  <a:tcPr marL="40048" marR="40048" marT="40048" marB="789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High-sensitivity, untrusted input</a:t>
                      </a:r>
                    </a:p>
                  </a:txBody>
                  <a:tcPr marL="40048" marR="40048" marT="40048" marB="789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64520"/>
                  </a:ext>
                </a:extLst>
              </a:tr>
              <a:tr h="992321">
                <a:tc>
                  <a:txBody>
                    <a:bodyPr/>
                    <a:lstStyle/>
                    <a:p>
                      <a:pPr algn="ctr"/>
                      <a:r>
                        <a:rPr lang="en-US" sz="1400" b="1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</a:t>
                      </a:r>
                      <a:endParaRPr lang="en-US" sz="14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048" marR="40048" marT="40048" marB="789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□</a:t>
                      </a:r>
                      <a:r>
                        <a:rPr lang="en-US" sz="2400" cap="none" spc="0" baseline="-2500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n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40048" marR="40048" marT="40048" marB="789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validation, common attacks prevented</a:t>
                      </a:r>
                    </a:p>
                  </a:txBody>
                  <a:tcPr marL="40048" marR="40048" marT="40048" marB="789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Typical operations, mixed trust</a:t>
                      </a:r>
                    </a:p>
                  </a:txBody>
                  <a:tcPr marL="40048" marR="40048" marT="40048" marB="789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357892"/>
                  </a:ext>
                </a:extLst>
              </a:tr>
              <a:tr h="781874">
                <a:tc>
                  <a:txBody>
                    <a:bodyPr/>
                    <a:lstStyle/>
                    <a:p>
                      <a:pPr algn="ctr"/>
                      <a:r>
                        <a:rPr lang="en-US" sz="1400" b="1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Permissive</a:t>
                      </a:r>
                      <a:endParaRPr lang="en-US" sz="14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048" marR="40048" marT="40048" marB="789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□</a:t>
                      </a:r>
                      <a:r>
                        <a:rPr lang="en-US" sz="2400" cap="none" spc="0" baseline="-2500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p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40048" marR="40048" marT="40048" marB="789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validation, performance prioritized</a:t>
                      </a:r>
                    </a:p>
                  </a:txBody>
                  <a:tcPr marL="40048" marR="40048" marT="40048" marB="789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Development, trusted environments</a:t>
                      </a:r>
                    </a:p>
                  </a:txBody>
                  <a:tcPr marL="40048" marR="40048" marT="40048" marB="789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257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167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DCEB8-0734-A68C-4AF4-FD67771C2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980" y="810945"/>
            <a:ext cx="3964008" cy="1800526"/>
          </a:xfrm>
        </p:spPr>
        <p:txBody>
          <a:bodyPr>
            <a:normAutofit/>
          </a:bodyPr>
          <a:lstStyle/>
          <a:p>
            <a:r>
              <a:rPr lang="en-US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&amp; Components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9AB4D-0A40-2A8D-CA30-7F36609A9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1365"/>
            <a:ext cx="7472381" cy="6310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20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Components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 Evaluator:</a:t>
            </a:r>
            <a:r>
              <a:rPr lang="en-US" sz="2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Determines appropriate security level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Parser Generator:</a:t>
            </a:r>
            <a:r>
              <a:rPr lang="en-US" sz="2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Creates configuration-specific parsers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 Gate:</a:t>
            </a:r>
            <a:r>
              <a:rPr lang="en-US" sz="2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Manages security transitions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Monitor:</a:t>
            </a:r>
            <a:r>
              <a:rPr lang="en-US" sz="2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Tracks security decisions</a:t>
            </a:r>
          </a:p>
          <a:p>
            <a:pPr>
              <a:lnSpc>
                <a:spcPct val="90000"/>
              </a:lnSpc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20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Strategies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Library integration with existing systems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Annotation-driven configuration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 from specifications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Runtime context evaluation</a:t>
            </a:r>
          </a:p>
          <a:p>
            <a:pPr>
              <a:lnSpc>
                <a:spcPct val="90000"/>
              </a:lnSpc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20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Implementation Features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Recognition-based parsing separates validation from processing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Formally specified grammar for each input format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constraints overlaid on base grammars</a:t>
            </a:r>
          </a:p>
          <a:p>
            <a:pPr>
              <a:lnSpc>
                <a:spcPct val="90000"/>
              </a:lnSpc>
            </a:pPr>
            <a:endParaRPr lang="en-US" sz="500"/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0A941243-4450-93D7-9468-F74498450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4703" y="2623381"/>
            <a:ext cx="3848322" cy="384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10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98ECBA-3258-45DF-8FD4-7581736BC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2BF453-BD82-4B90-9FE7-517031338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F99BBB-896E-1128-9B34-C210B4F71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090" y="758952"/>
            <a:ext cx="2802194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700" b="1" i="0">
                <a:solidFill>
                  <a:srgbClr val="FFFFFF"/>
                </a:solidFill>
                <a:effectLst/>
              </a:rPr>
              <a:t>Code Example: Modal Guardrail Parser</a:t>
            </a:r>
            <a:endParaRPr lang="en-US" sz="3700">
              <a:solidFill>
                <a:srgbClr val="FFFFFF"/>
              </a:solidFill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72366D3-9B5C-42E1-9906-77FF6BB55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756100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1F5E60-4E89-4B16-A245-12BD99359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455F352-7A04-5170-2640-EFA756F769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482" y="501722"/>
            <a:ext cx="7285173" cy="5742628"/>
          </a:xfrm>
        </p:spPr>
      </p:pic>
    </p:spTree>
    <p:extLst>
      <p:ext uri="{BB962C8B-B14F-4D97-AF65-F5344CB8AC3E}">
        <p14:creationId xmlns:p14="http://schemas.microsoft.com/office/powerpoint/2010/main" val="4285198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75391-7700-19AE-8D15-E10FFBC1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3278" y="521344"/>
            <a:ext cx="3964008" cy="1800526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9C77A-00A6-2CC5-669F-7E561EAF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419" y="201706"/>
            <a:ext cx="7472381" cy="645458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23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Environments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protocol parsers: HTTP, DNS, custom binary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 format parsers: JSON, XML, custom formats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query interfaces: SQL, NoSQL</a:t>
            </a:r>
          </a:p>
          <a:p>
            <a:pPr>
              <a:lnSpc>
                <a:spcPct val="90000"/>
              </a:lnSpc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23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Attack Vectors Tested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Buffer overflow and memory corruption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Injection attacks (SQL, XSS, command)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Parser differential exploits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Denial of service through malformed input</a:t>
            </a:r>
          </a:p>
          <a:p>
            <a:pPr>
              <a:lnSpc>
                <a:spcPct val="90000"/>
              </a:lnSpc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23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Metrics Collected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Attack prevention rates by security level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impact (latency, throughput)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overhead by security level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 transition costs</a:t>
            </a:r>
          </a:p>
          <a:p>
            <a:pPr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complexity metrics</a:t>
            </a:r>
          </a:p>
          <a:p>
            <a:pPr>
              <a:lnSpc>
                <a:spcPct val="90000"/>
              </a:lnSpc>
            </a:pPr>
            <a:endParaRPr lang="en-US" sz="500"/>
          </a:p>
        </p:txBody>
      </p:sp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0D9D00F0-A181-1343-C70A-428E93E85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3842" y="2634345"/>
            <a:ext cx="3848322" cy="384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60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7FCDD-8CA3-35E7-3EFE-731114125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64" y="555466"/>
            <a:ext cx="10515600" cy="1325563"/>
          </a:xfrm>
        </p:spPr>
        <p:txBody>
          <a:bodyPr/>
          <a:lstStyle/>
          <a:p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19EEC8B-BB0E-6F09-E3C9-CE011D9679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5578076"/>
              </p:ext>
            </p:extLst>
          </p:nvPr>
        </p:nvGraphicFramePr>
        <p:xfrm>
          <a:off x="389964" y="4069006"/>
          <a:ext cx="4404459" cy="2255520"/>
        </p:xfrm>
        <a:graphic>
          <a:graphicData uri="http://schemas.openxmlformats.org/drawingml/2006/table">
            <a:tbl>
              <a:tblPr/>
              <a:tblGrid>
                <a:gridCol w="1468153">
                  <a:extLst>
                    <a:ext uri="{9D8B030D-6E8A-4147-A177-3AD203B41FA5}">
                      <a16:colId xmlns:a16="http://schemas.microsoft.com/office/drawing/2014/main" val="1969843757"/>
                    </a:ext>
                  </a:extLst>
                </a:gridCol>
                <a:gridCol w="1500112">
                  <a:extLst>
                    <a:ext uri="{9D8B030D-6E8A-4147-A177-3AD203B41FA5}">
                      <a16:colId xmlns:a16="http://schemas.microsoft.com/office/drawing/2014/main" val="2720115329"/>
                    </a:ext>
                  </a:extLst>
                </a:gridCol>
                <a:gridCol w="1436194">
                  <a:extLst>
                    <a:ext uri="{9D8B030D-6E8A-4147-A177-3AD203B41FA5}">
                      <a16:colId xmlns:a16="http://schemas.microsoft.com/office/drawing/2014/main" val="30350983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Security Level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Attack Prevention Rate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Attack Surface Reduction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114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Strict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99.8%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85%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324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Standard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97.2%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65%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377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Permissive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89.5%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40%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13577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2958FE-AF81-4E05-6E83-A4ACD07F2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606989"/>
              </p:ext>
            </p:extLst>
          </p:nvPr>
        </p:nvGraphicFramePr>
        <p:xfrm>
          <a:off x="6561438" y="4069006"/>
          <a:ext cx="4609070" cy="2304030"/>
        </p:xfrm>
        <a:graphic>
          <a:graphicData uri="http://schemas.openxmlformats.org/drawingml/2006/table">
            <a:tbl>
              <a:tblPr/>
              <a:tblGrid>
                <a:gridCol w="1707583">
                  <a:extLst>
                    <a:ext uri="{9D8B030D-6E8A-4147-A177-3AD203B41FA5}">
                      <a16:colId xmlns:a16="http://schemas.microsoft.com/office/drawing/2014/main" val="934664788"/>
                    </a:ext>
                  </a:extLst>
                </a:gridCol>
                <a:gridCol w="1495789">
                  <a:extLst>
                    <a:ext uri="{9D8B030D-6E8A-4147-A177-3AD203B41FA5}">
                      <a16:colId xmlns:a16="http://schemas.microsoft.com/office/drawing/2014/main" val="3532228882"/>
                    </a:ext>
                  </a:extLst>
                </a:gridCol>
                <a:gridCol w="1405698">
                  <a:extLst>
                    <a:ext uri="{9D8B030D-6E8A-4147-A177-3AD203B41FA5}">
                      <a16:colId xmlns:a16="http://schemas.microsoft.com/office/drawing/2014/main" val="1129895861"/>
                    </a:ext>
                  </a:extLst>
                </a:gridCol>
              </a:tblGrid>
              <a:tr h="86622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Security Level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Throughput Overhead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Memory Overhead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274130"/>
                  </a:ext>
                </a:extLst>
              </a:tr>
              <a:tr h="42758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Strict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12-18%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15-20%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05875"/>
                  </a:ext>
                </a:extLst>
              </a:tr>
              <a:tr h="50511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Standard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5-8%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8-12%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41461"/>
                  </a:ext>
                </a:extLst>
              </a:tr>
              <a:tr h="50511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Permissive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1-3%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3-5%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51114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A91D2B89-4028-8CF8-E4BD-55C0B44B7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953" y="2392942"/>
            <a:ext cx="5033622" cy="12316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84111" rIns="91440" bIns="8411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Context-appropriate security provides optimal security-performance balance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level transition overhead is negligible (&lt; 0.5% of total processing)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Significant attack surface reduction even at permissive level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0BC6F2-6F62-2DC3-01D1-8E1AE9E983B5}"/>
              </a:ext>
            </a:extLst>
          </p:cNvPr>
          <p:cNvSpPr txBox="1"/>
          <p:nvPr/>
        </p:nvSpPr>
        <p:spPr>
          <a:xfrm>
            <a:off x="1231023" y="3699674"/>
            <a:ext cx="2345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Effectiveness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DD2630-5E5F-7110-64CB-A2C2BA23CEAD}"/>
              </a:ext>
            </a:extLst>
          </p:cNvPr>
          <p:cNvSpPr txBox="1"/>
          <p:nvPr/>
        </p:nvSpPr>
        <p:spPr>
          <a:xfrm>
            <a:off x="7809153" y="3704306"/>
            <a:ext cx="2230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Impact</a:t>
            </a:r>
          </a:p>
        </p:txBody>
      </p:sp>
    </p:spTree>
    <p:extLst>
      <p:ext uri="{BB962C8B-B14F-4D97-AF65-F5344CB8AC3E}">
        <p14:creationId xmlns:p14="http://schemas.microsoft.com/office/powerpoint/2010/main" val="1906359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58EC8D-68D1-4138-B719-BE00C78AD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0"/>
            <a:ext cx="122072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4579E4-5B5F-42C9-B08F-A904C81B1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811"/>
            <a:ext cx="2556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AEB1B-C70D-2682-9571-1B5BE9356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2904" y="2514944"/>
            <a:ext cx="5054601" cy="1955108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F2261-63E6-1C1D-C29A-D509108ED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0110" y="303260"/>
            <a:ext cx="8433124" cy="6392334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>
              <a:spcAft>
                <a:spcPts val="1350"/>
              </a:spcAft>
              <a:buNone/>
            </a:pPr>
            <a:r>
              <a:rPr lang="en-US" sz="1600" b="1" i="0">
                <a:effectLst/>
                <a:latin typeface="Times New Roman"/>
                <a:cs typeface="Times New Roman"/>
              </a:rPr>
              <a:t>Key Contributions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effectLst/>
                <a:latin typeface="Times New Roman"/>
                <a:cs typeface="Times New Roman"/>
              </a:rPr>
              <a:t>Novel approach to context-sensitive parser security using modal logic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effectLst/>
                <a:latin typeface="Times New Roman"/>
                <a:cs typeface="Times New Roman"/>
              </a:rPr>
              <a:t>Formal framework for reasoning about security guarantees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effectLst/>
                <a:latin typeface="Times New Roman"/>
                <a:cs typeface="Times New Roman"/>
              </a:rPr>
              <a:t>Practical implementation architecture with empirical validation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effectLst/>
                <a:latin typeface="Times New Roman"/>
                <a:cs typeface="Times New Roman"/>
              </a:rPr>
              <a:t>Demonstrated viable security-performance tradeoffs</a:t>
            </a:r>
          </a:p>
          <a:p>
            <a:pPr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1600" b="1" i="0">
                <a:effectLst/>
                <a:latin typeface="Times New Roman"/>
                <a:cs typeface="Times New Roman"/>
              </a:rPr>
              <a:t>Security Improvements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effectLst/>
                <a:latin typeface="Times New Roman"/>
                <a:cs typeface="Times New Roman"/>
              </a:rPr>
              <a:t>Significant reduction in parser-related vulnerabilities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effectLst/>
                <a:latin typeface="Times New Roman"/>
                <a:cs typeface="Times New Roman"/>
              </a:rPr>
              <a:t>Enhanced security boundary enforcement between processing stages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effectLst/>
                <a:latin typeface="Times New Roman"/>
                <a:cs typeface="Times New Roman"/>
              </a:rPr>
              <a:t>Mathematically provable security properties at each level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effectLst/>
                <a:latin typeface="Times New Roman"/>
                <a:cs typeface="Times New Roman"/>
              </a:rPr>
              <a:t>Adaptable security measures appropriate to actual risk levels</a:t>
            </a:r>
          </a:p>
          <a:p>
            <a:pPr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1600" b="1" i="0">
                <a:effectLst/>
                <a:latin typeface="Times New Roman"/>
                <a:cs typeface="Times New Roman"/>
              </a:rPr>
              <a:t>Future Research Directions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effectLst/>
                <a:latin typeface="Times New Roman"/>
                <a:cs typeface="Times New Roman"/>
              </a:rPr>
              <a:t>Automated security level inference from code analysis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effectLst/>
                <a:latin typeface="Times New Roman"/>
                <a:cs typeface="Times New Roman"/>
              </a:rPr>
              <a:t>Integration with development toolchains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>
                <a:effectLst/>
                <a:latin typeface="Times New Roman"/>
                <a:cs typeface="Times New Roman"/>
              </a:rPr>
              <a:t>Application to emerging protocols and data formats</a:t>
            </a:r>
          </a:p>
          <a:p>
            <a:endParaRPr lang="en-US" sz="11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1BF6CF-E1B8-4EE2-9AE1-86A58DAFD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37189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95BA4-B690-7550-FCCD-9EA353B24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751" y="500305"/>
            <a:ext cx="9343026" cy="1251062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Commentary &amp; Critique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F1C15-8793-8B58-DAD2-2198985E2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851" y="2829698"/>
            <a:ext cx="4176917" cy="3799182"/>
          </a:xfrm>
        </p:spPr>
        <p:txBody>
          <a:bodyPr>
            <a:normAutofit fontScale="25000" lnSpcReduction="20000"/>
          </a:bodyPr>
          <a:lstStyle/>
          <a:p>
            <a:pPr algn="l"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7200" b="1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  <a:p>
            <a:pPr algn="l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theoretical foundation in modal logic and language theory</a:t>
            </a:r>
          </a:p>
          <a:p>
            <a:pPr algn="l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implementation addressing real-world security challenges</a:t>
            </a:r>
          </a:p>
          <a:p>
            <a:pPr algn="l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Flexible approach adapting to actual risk levels</a:t>
            </a:r>
          </a:p>
          <a:p>
            <a:pPr algn="l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Performance-conscious design with acceptable overhead</a:t>
            </a:r>
          </a:p>
          <a:p>
            <a:pPr algn="l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Formal verification of security properties</a:t>
            </a:r>
          </a:p>
          <a:p>
            <a:pPr algn="l">
              <a:spcBef>
                <a:spcPts val="1350"/>
              </a:spcBef>
              <a:spcAft>
                <a:spcPts val="900"/>
              </a:spcAft>
              <a:buNone/>
            </a:pPr>
            <a:endParaRPr lang="en-US" sz="7200" b="0" i="0">
              <a:solidFill>
                <a:srgbClr val="333333"/>
              </a:solidFill>
              <a:effectLst/>
              <a:latin typeface="Calibri" panose="020F0502020204030204" pitchFamily="34" charset="0"/>
            </a:endParaRPr>
          </a:p>
          <a:p>
            <a:endParaRPr lang="en-US"/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1F7B591F-72C4-01F1-1236-80D86F921663}"/>
              </a:ext>
            </a:extLst>
          </p:cNvPr>
          <p:cNvGraphicFramePr/>
          <p:nvPr/>
        </p:nvGraphicFramePr>
        <p:xfrm>
          <a:off x="6044659" y="2829698"/>
          <a:ext cx="4931220" cy="35855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4882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FA17B-DF8B-2629-888F-DEFE294A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Commentary &amp; Critique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EE344-9D78-26B0-072E-1E49CCB75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1350"/>
              </a:spcBef>
              <a:spcAft>
                <a:spcPts val="900"/>
              </a:spcAft>
              <a:buNone/>
            </a:pPr>
            <a:r>
              <a:rPr lang="en-US" sz="1800" b="1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Industry Applicability</a:t>
            </a:r>
          </a:p>
          <a:p>
            <a:pPr algn="l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Particularly valuable for high-security applications (finance, healthcare)</a:t>
            </a:r>
          </a:p>
          <a:p>
            <a:pPr algn="l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Well-suited for multi-tenant systems and critical infrastructure</a:t>
            </a:r>
          </a:p>
          <a:p>
            <a:pPr algn="l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Could form basis for new security standards in parser implementation</a:t>
            </a:r>
          </a:p>
          <a:p>
            <a:pPr algn="l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organizational commitment to formal methods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1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13B40-6A60-3D06-0F7B-F3DDC956B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>
                <a:effectLst/>
                <a:latin typeface="Times New Roman"/>
                <a:cs typeface="Times New Roman"/>
              </a:rPr>
              <a:t>References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EDB6B-EE4F-4821-DD3D-6385A4808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spcAft>
                <a:spcPts val="450"/>
              </a:spcAft>
              <a:buFont typeface="+mj-lt"/>
              <a:buAutoNum type="arabicPeriod"/>
            </a:pPr>
            <a:r>
              <a:rPr lang="en-US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Bond, E., &amp; Heimerdinger, M. (2023). Curbing the Vulnerable Parser: Graded Modal Guardrails for Secure Input Handling. In IEEE Secure Development Conference (</a:t>
            </a:r>
            <a:r>
              <a:rPr lang="en-US" b="0" i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SecDev</a:t>
            </a:r>
            <a:r>
              <a:rPr lang="en-US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2023).</a:t>
            </a:r>
          </a:p>
          <a:p>
            <a:pPr algn="l">
              <a:spcAft>
                <a:spcPts val="450"/>
              </a:spcAft>
              <a:buFont typeface="+mj-lt"/>
              <a:buAutoNum type="arabicPeriod"/>
            </a:pPr>
            <a:r>
              <a:rPr lang="en-US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Secure Development Conference. (2023). 2023 Accepted Papers. https://</a:t>
            </a:r>
            <a:r>
              <a:rPr lang="en-US" b="0" i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secdev.ieee.org</a:t>
            </a:r>
            <a:r>
              <a:rPr lang="en-US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/2023/accepted/</a:t>
            </a:r>
          </a:p>
          <a:p>
            <a:pPr algn="l">
              <a:spcAft>
                <a:spcPts val="450"/>
              </a:spcAft>
              <a:buFont typeface="+mj-lt"/>
              <a:buAutoNum type="arabicPeriod"/>
            </a:pPr>
            <a:r>
              <a:rPr lang="en-US" b="0" i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LangSec.org</a:t>
            </a:r>
            <a:r>
              <a:rPr lang="en-US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(2023). The Language-theoretic approach (LANGSEC). http://</a:t>
            </a:r>
            <a:r>
              <a:rPr lang="en-US" b="0" i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langsec.org</a:t>
            </a:r>
            <a:r>
              <a:rPr lang="en-US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l">
              <a:spcAft>
                <a:spcPts val="450"/>
              </a:spcAft>
              <a:buFont typeface="+mj-lt"/>
              <a:buAutoNum type="arabicPeriod"/>
            </a:pPr>
            <a:r>
              <a:rPr lang="en-US" b="0" i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Bratus</a:t>
            </a:r>
            <a:r>
              <a:rPr lang="en-US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S., Patterson, M. L., &amp; Sassaman, L. (2017). Language-theoretic Security (</a:t>
            </a:r>
            <a:r>
              <a:rPr lang="en-US" b="0" i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LangSec</a:t>
            </a:r>
            <a:r>
              <a:rPr lang="en-US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OWASP Summit 2017.</a:t>
            </a:r>
          </a:p>
          <a:p>
            <a:pPr algn="l">
              <a:spcAft>
                <a:spcPts val="450"/>
              </a:spcAft>
              <a:buFont typeface="+mj-lt"/>
              <a:buAutoNum type="arabicPeriod"/>
            </a:pPr>
            <a:r>
              <a:rPr lang="en-US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Patterson, M. L. (2017). Input Handling Done Right: Building Hardened Parsers Using Language-Theoretic Security. IEEE Cybersecurity Development.</a:t>
            </a:r>
          </a:p>
          <a:p>
            <a:pPr algn="l">
              <a:spcAft>
                <a:spcPts val="450"/>
              </a:spcAft>
              <a:buFont typeface="+mj-lt"/>
              <a:buAutoNum type="arabicPeriod"/>
            </a:pPr>
            <a:r>
              <a:rPr lang="en-US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Anantharaman, P. (2022). Protecting Systems From Exploits Using Language-Theoretic Security. Doctoral Dissertation, Dartmouth College.</a:t>
            </a:r>
          </a:p>
          <a:p>
            <a:pPr algn="l">
              <a:spcAft>
                <a:spcPts val="450"/>
              </a:spcAft>
              <a:buFont typeface="+mj-lt"/>
              <a:buAutoNum type="arabicPeriod"/>
            </a:pPr>
            <a:r>
              <a:rPr lang="en-US" b="0" i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Senier</a:t>
            </a:r>
            <a:r>
              <a:rPr lang="en-US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 (2023). The End of Binary Protocol Parser Vulnerabilities. Tutorial at IEEE Secure Development Conference.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03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6D2C-924B-80DD-7022-17693D2ED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US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D31E8-0F99-B398-9999-A63BA6379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417" y="4017530"/>
            <a:ext cx="4008964" cy="13024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5400" b="0" i="0">
                <a:effectLst/>
                <a:latin typeface="Times New Roman"/>
                <a:cs typeface="Times New Roman"/>
              </a:rPr>
              <a:t>Questions?</a:t>
            </a:r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01B1B234-522F-4F40-3A6C-600D9A5AA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9706" y="1933575"/>
            <a:ext cx="3639872" cy="363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8018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View</vt:lpstr>
      <vt:lpstr>BrushVTI</vt:lpstr>
      <vt:lpstr>Curbing the Vulnerable Parser: Graded Modal Guardrails for Secure Input Handling</vt:lpstr>
      <vt:lpstr>Introduction </vt:lpstr>
      <vt:lpstr>Related Work</vt:lpstr>
      <vt:lpstr>Research</vt:lpstr>
      <vt:lpstr>Architecture &amp; Components</vt:lpstr>
      <vt:lpstr>Code Example: Modal Guardrail Parser</vt:lpstr>
      <vt:lpstr>Experiments &amp; Evaluation</vt:lpstr>
      <vt:lpstr>Experimental Results</vt:lpstr>
      <vt:lpstr>Results &amp; Conclusion</vt:lpstr>
      <vt:lpstr>Commentary &amp; Critique</vt:lpstr>
      <vt:lpstr>Commentary &amp; Critique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Aziz Alghamdi</dc:creator>
  <cp:revision>8</cp:revision>
  <dcterms:created xsi:type="dcterms:W3CDTF">2025-04-30T04:51:40Z</dcterms:created>
  <dcterms:modified xsi:type="dcterms:W3CDTF">2025-05-05T21:46:46Z</dcterms:modified>
</cp:coreProperties>
</file>